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CC55EA8-9FC2-442E-B6CF-F8EF61AE7F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5B9DA9-632B-4C49-9120-876E30BB382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C55EA8-9FC2-442E-B6CF-F8EF61AE7FC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B9DA9-632B-4C49-9120-876E30BB382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282713" y="501005"/>
          <a:ext cx="11475085" cy="6012815"/>
        </p:xfrm>
        <a:graphic>
          <a:graphicData uri="http://schemas.openxmlformats.org/drawingml/2006/table">
            <a:tbl>
              <a:tblPr firstRow="1" bandRow="1">
                <a:tableStyleId>{EB344D84-9AFB-497E-A393-DC336BA19D2E}</a:tableStyleId>
              </a:tblPr>
              <a:tblGrid>
                <a:gridCol w="1912546"/>
                <a:gridCol w="1912546"/>
                <a:gridCol w="1912546"/>
                <a:gridCol w="1912546"/>
                <a:gridCol w="1912546"/>
                <a:gridCol w="1912546"/>
              </a:tblGrid>
              <a:tr h="499358">
                <a:tc>
                  <a:txBody>
                    <a:bodyPr/>
                    <a:lstStyle/>
                    <a:p>
                      <a:pPr algn="ctr" fontAlgn="ctr">
                        <a:buNone/>
                      </a:pPr>
                      <a:r>
                        <a:rPr lang="zh-CN" altLang="en-US" sz="1100" b="0" u="none" strike="noStrike" dirty="0">
                          <a:solidFill>
                            <a:srgbClr val="000000"/>
                          </a:solidFill>
                          <a:effectLst/>
                        </a:rPr>
                        <a:t>序号</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项目名称</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起止时间</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项目金额（万元）</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项目来源</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项目属性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7472">
                <a:tc>
                  <a:txBody>
                    <a:bodyPr/>
                    <a:lstStyle/>
                    <a:p>
                      <a:pPr algn="ctr" fontAlgn="ctr">
                        <a:buNone/>
                      </a:pPr>
                      <a:r>
                        <a:rPr lang="en-US" altLang="zh-CN" sz="1100" b="0" u="none" strike="noStrike">
                          <a:solidFill>
                            <a:srgbClr val="000000"/>
                          </a:solidFill>
                          <a:effectLst/>
                        </a:rPr>
                        <a:t>1</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共建农业开源鸿蒙智能系统研究院合作协议</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02/01/2026-2027/04/13</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200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隆平开鸿农业科技（北京）有限公司</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横向</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9358">
                <a:tc>
                  <a:txBody>
                    <a:bodyPr/>
                    <a:lstStyle/>
                    <a:p>
                      <a:pPr algn="ctr" fontAlgn="ctr">
                        <a:buNone/>
                      </a:pPr>
                      <a:r>
                        <a:rPr lang="en-US" altLang="zh-CN" sz="1100" b="0" u="none" strike="noStrike">
                          <a:solidFill>
                            <a:srgbClr val="000000"/>
                          </a:solidFill>
                          <a:effectLst/>
                        </a:rPr>
                        <a:t>2</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水稻智能识别与预测模型开发服务项目</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12/13/2025-2026-03-30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95.6131</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隆平开鸿农业科技（北京）有限公司</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横向</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7472">
                <a:tc>
                  <a:txBody>
                    <a:bodyPr/>
                    <a:lstStyle/>
                    <a:p>
                      <a:pPr algn="ctr" fontAlgn="ctr">
                        <a:buNone/>
                      </a:pPr>
                      <a:r>
                        <a:rPr lang="en-US" altLang="zh-CN" sz="1100" b="0" u="none" strike="noStrike">
                          <a:solidFill>
                            <a:srgbClr val="000000"/>
                          </a:solidFill>
                          <a:effectLst/>
                        </a:rPr>
                        <a:t>3</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主粮农作物数据采集与种植全过程智能管理软件研发</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09/20/2025-2028-08-20</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20.3 </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隆平开鸿农业科技（北京）有限公司</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横向</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9358">
                <a:tc>
                  <a:txBody>
                    <a:bodyPr/>
                    <a:lstStyle/>
                    <a:p>
                      <a:pPr algn="ctr" fontAlgn="ctr">
                        <a:buNone/>
                      </a:pPr>
                      <a:r>
                        <a:rPr lang="en-US" altLang="zh-CN" sz="1100" b="0" u="none" strike="noStrike">
                          <a:solidFill>
                            <a:srgbClr val="000000"/>
                          </a:solidFill>
                          <a:effectLst/>
                        </a:rPr>
                        <a:t>4</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招贤镇鲜切花产业发展技术服务合同</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12/30/2024-2027-12-31</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60</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莒县招贤镇人民政府</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横向</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3209">
                <a:tc>
                  <a:txBody>
                    <a:bodyPr/>
                    <a:lstStyle/>
                    <a:p>
                      <a:pPr algn="ctr" fontAlgn="ctr">
                        <a:buNone/>
                      </a:pPr>
                      <a:r>
                        <a:rPr lang="en-US" altLang="zh-CN" sz="1100" b="0" u="none" strike="noStrike">
                          <a:solidFill>
                            <a:srgbClr val="000000"/>
                          </a:solidFill>
                          <a:effectLst/>
                        </a:rPr>
                        <a:t>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中化现代农业有限公司日喀则创新基地项目青稞生育期及适播期模型采购合同</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05/29/2024-2026-03-31</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30</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中化现代农业有限公司</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横向</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9358">
                <a:tc>
                  <a:txBody>
                    <a:bodyPr/>
                    <a:lstStyle/>
                    <a:p>
                      <a:pPr algn="ctr" fontAlgn="ctr">
                        <a:buNone/>
                      </a:pPr>
                      <a:r>
                        <a:rPr lang="en-US" altLang="zh-CN" sz="1100" b="0" u="none" strike="noStrike">
                          <a:solidFill>
                            <a:srgbClr val="000000"/>
                          </a:solidFill>
                          <a:effectLst/>
                        </a:rPr>
                        <a:t>6</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水稻智能植保服务研发项目</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08/30/2024-2029-08-31</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500</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中联智慧农业股份有限公司</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横向</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87472">
                <a:tc>
                  <a:txBody>
                    <a:bodyPr/>
                    <a:lstStyle/>
                    <a:p>
                      <a:pPr algn="ctr" fontAlgn="ctr">
                        <a:buNone/>
                      </a:pPr>
                      <a:r>
                        <a:rPr lang="en-US" altLang="zh-CN" sz="1100" b="0" u="none" strike="noStrike">
                          <a:solidFill>
                            <a:srgbClr val="000000"/>
                          </a:solidFill>
                          <a:effectLst/>
                        </a:rPr>
                        <a:t>7</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农作物病虫害人工智能诊断预警研究与示范</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2023-09-01-2025-12-31</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65</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陕西省科学技术厅</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纵向</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0385">
                <a:tc>
                  <a:txBody>
                    <a:bodyPr/>
                    <a:lstStyle/>
                    <a:p>
                      <a:pPr algn="ctr" fontAlgn="ctr">
                        <a:buNone/>
                      </a:pPr>
                      <a:r>
                        <a:rPr lang="en-US" altLang="zh-CN" sz="1100" b="0" u="none" strike="noStrike">
                          <a:solidFill>
                            <a:srgbClr val="000000"/>
                          </a:solidFill>
                          <a:effectLst/>
                        </a:rPr>
                        <a:t>8</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科技部火炬计划人才引进</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a:solidFill>
                            <a:srgbClr val="000000"/>
                          </a:solidFill>
                          <a:effectLst/>
                        </a:rPr>
                        <a:t>2024-2029</a:t>
                      </a:r>
                      <a:endParaRPr lang="en-US" alt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100" b="0" u="none" strike="noStrike" dirty="0">
                          <a:solidFill>
                            <a:srgbClr val="000000"/>
                          </a:solidFill>
                          <a:effectLst/>
                        </a:rPr>
                        <a:t>300</a:t>
                      </a:r>
                      <a:endParaRPr lang="en-US" alt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a:solidFill>
                            <a:srgbClr val="000000"/>
                          </a:solidFill>
                          <a:effectLst/>
                        </a:rPr>
                        <a:t>中华人民共和国科学技术部</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100" b="0" u="none" strike="noStrike" dirty="0">
                          <a:solidFill>
                            <a:srgbClr val="000000"/>
                          </a:solidFill>
                          <a:effectLst/>
                        </a:rPr>
                        <a:t>纵向</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9358">
                <a:tc>
                  <a:txBody>
                    <a:bodyPr/>
                    <a:p>
                      <a:pPr algn="ctr" fontAlgn="ctr"/>
                      <a:r>
                        <a:rPr lang="en-US" altLang="zh-CN" sz="1100" b="0" i="0">
                          <a:solidFill>
                            <a:srgbClr val="FF0000"/>
                          </a:solidFill>
                          <a:latin typeface="等线" panose="02010600030101010101" pitchFamily="2" charset="-122"/>
                          <a:ea typeface="等线" panose="02010600030101010101" pitchFamily="2" charset="-122"/>
                        </a:rPr>
                        <a:t>9</a:t>
                      </a:r>
                      <a:endParaRPr lang="en-US" altLang="zh-CN" sz="1100" b="0" i="0">
                        <a:solidFill>
                          <a:srgbClr val="FF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lang="zh-CN" altLang="en-US" sz="1100" b="0" i="0">
                          <a:solidFill>
                            <a:srgbClr val="FF0000"/>
                          </a:solidFill>
                          <a:latin typeface="等线" panose="02010600030101010101" pitchFamily="2" charset="-122"/>
                          <a:ea typeface="等线" panose="02010600030101010101" pitchFamily="2" charset="-122"/>
                        </a:rPr>
                        <a:t>智慧水保创新团队</a:t>
                      </a:r>
                      <a:endParaRPr lang="zh-CN" altLang="en-US" sz="1100" b="0" i="0">
                        <a:solidFill>
                          <a:srgbClr val="FF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lang="en-US" altLang="zh-CN" sz="1100" b="0" i="0">
                          <a:solidFill>
                            <a:srgbClr val="FF0000"/>
                          </a:solidFill>
                          <a:latin typeface="等线" panose="02010600030101010101" pitchFamily="2" charset="-122"/>
                          <a:ea typeface="等线" panose="02010600030101010101" pitchFamily="2" charset="-122"/>
                        </a:rPr>
                        <a:t>2025-2027</a:t>
                      </a:r>
                      <a:endParaRPr lang="en-US" altLang="zh-CN" sz="1100" b="0" i="0">
                        <a:solidFill>
                          <a:srgbClr val="FF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lang="en-US" altLang="zh-CN" sz="1100" b="0" i="0">
                          <a:solidFill>
                            <a:srgbClr val="FF0000"/>
                          </a:solidFill>
                          <a:latin typeface="等线" panose="02010600030101010101" pitchFamily="2" charset="-122"/>
                          <a:ea typeface="等线" panose="02010600030101010101" pitchFamily="2" charset="-122"/>
                        </a:rPr>
                        <a:t>100</a:t>
                      </a:r>
                      <a:endParaRPr lang="en-US" altLang="zh-CN" sz="1100" b="0" i="0">
                        <a:solidFill>
                          <a:srgbClr val="FF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lang="zh-CN" altLang="en-US" sz="1100" b="0" i="0">
                          <a:solidFill>
                            <a:srgbClr val="000000"/>
                          </a:solidFill>
                          <a:latin typeface="等线" panose="02010600030101010101" pitchFamily="2" charset="-122"/>
                          <a:ea typeface="等线" panose="02010600030101010101" pitchFamily="2" charset="-122"/>
                        </a:rPr>
                        <a:t>水土保持与和荒漠化整治全国重点实验室</a:t>
                      </a:r>
                      <a:endParaRPr lang="zh-CN" altLang="en-US" sz="1100" b="0" i="0">
                        <a:solidFill>
                          <a:srgbClr val="00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fontAlgn="ctr"/>
                      <a:r>
                        <a:rPr lang="zh-CN" altLang="en-US" sz="1100" b="0" i="0">
                          <a:solidFill>
                            <a:srgbClr val="000000"/>
                          </a:solidFill>
                          <a:latin typeface="等线" panose="02010600030101010101" pitchFamily="2" charset="-122"/>
                          <a:ea typeface="等线" panose="02010600030101010101" pitchFamily="2" charset="-122"/>
                        </a:rPr>
                        <a:t>纵向</a:t>
                      </a:r>
                      <a:endParaRPr lang="zh-CN" altLang="en-US" sz="1100" b="0" i="0">
                        <a:solidFill>
                          <a:srgbClr val="000000"/>
                        </a:solidFill>
                        <a:latin typeface="等线" panose="02010600030101010101" pitchFamily="2" charset="-122"/>
                        <a:ea typeface="等线" panose="02010600030101010101" pitchFamily="2" charset="-122"/>
                      </a:endParaRPr>
                    </a:p>
                  </a:txBody>
                  <a:tcPr marL="7937" marR="7937" marT="793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524</Words>
  <Application>WPS 演示</Application>
  <PresentationFormat>宽屏</PresentationFormat>
  <Paragraphs>120</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等线</vt:lpstr>
      <vt:lpstr>微软雅黑</vt:lpstr>
      <vt:lpstr>Arial Unicode MS</vt:lpstr>
      <vt:lpstr>等线 Light</vt:lpstr>
      <vt:lpstr>Calibri</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博 庞</dc:creator>
  <cp:lastModifiedBy>PB</cp:lastModifiedBy>
  <cp:revision>2</cp:revision>
  <dcterms:created xsi:type="dcterms:W3CDTF">2026-05-26T12:44:00Z</dcterms:created>
  <dcterms:modified xsi:type="dcterms:W3CDTF">2026-05-26T12:56:15Z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9EBD529856B34D689A727513385AE247_12</vt:lpwstr>
  </property>
  <property fmtid="{D5CDD505-2E9C-101B-9397-08002B2CF9AE}" pid="3" name="KSOProductBuildVer">
    <vt:lpwstr>2052-12.1.0.23542</vt:lpwstr>
  </property>
</Properties>
</file>